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91" r:id="rId3"/>
    <p:sldId id="257" r:id="rId4"/>
    <p:sldId id="298" r:id="rId5"/>
    <p:sldId id="289" r:id="rId6"/>
    <p:sldId id="299" r:id="rId7"/>
    <p:sldId id="293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5BA7"/>
    <a:srgbClr val="5CC1CD"/>
    <a:srgbClr val="3392C3"/>
    <a:srgbClr val="3254A2"/>
    <a:srgbClr val="3353A0"/>
    <a:srgbClr val="A6D9DE"/>
    <a:srgbClr val="1B325D"/>
    <a:srgbClr val="334E9D"/>
    <a:srgbClr val="325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73"/>
    <p:restoredTop sz="96805"/>
  </p:normalViewPr>
  <p:slideViewPr>
    <p:cSldViewPr snapToGrid="0" snapToObjects="1">
      <p:cViewPr varScale="1">
        <p:scale>
          <a:sx n="64" d="100"/>
          <a:sy n="64" d="100"/>
        </p:scale>
        <p:origin x="372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50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17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95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978F9-FC86-9269-A519-40838304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E76F0-263B-A0BA-9F67-B19966853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A6A20-95AF-4261-5F3B-CCF2AF10B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B0EAB-313F-0DFF-3E53-3C4D73DA63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686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89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3514725"/>
            <a:ext cx="8229600" cy="3257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00"/>
              </a:lnSpc>
              <a:buNone/>
            </a:pPr>
            <a:r>
              <a:rPr lang="ru-RU" sz="6000" b="1" dirty="0">
                <a:solidFill>
                  <a:srgbClr val="FFFFFF"/>
                </a:solidFill>
                <a:latin typeface="Montserrat SemiBold" pitchFamily="2" charset="0"/>
              </a:rPr>
              <a:t>Цифровая платформа экономики труда</a:t>
            </a:r>
          </a:p>
        </p:txBody>
      </p:sp>
      <p:sp>
        <p:nvSpPr>
          <p:cNvPr id="4" name="N"/>
          <p:cNvSpPr/>
          <p:nvPr/>
        </p:nvSpPr>
        <p:spPr>
          <a:xfrm>
            <a:off x="11468100" y="3962993"/>
            <a:ext cx="6553200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600" b="1" kern="0" spc="-75" dirty="0">
                <a:solidFill>
                  <a:srgbClr val="325CA8"/>
                </a:solidFill>
                <a:latin typeface="Montserrat" pitchFamily="2" charset="0"/>
                <a:ea typeface="Montserrat Bold" pitchFamily="34" charset="-122"/>
                <a:cs typeface="Montserrat Bold" pitchFamily="34" charset="-120"/>
              </a:rPr>
              <a:t>Хайретдинова Диана Наилевна</a:t>
            </a:r>
          </a:p>
          <a:p>
            <a:pPr marL="0" indent="0" algn="l">
              <a:buNone/>
            </a:pPr>
            <a:r>
              <a:rPr lang="ru-RU" sz="3600" b="1" kern="0" spc="-75" dirty="0">
                <a:solidFill>
                  <a:srgbClr val="325CA8"/>
                </a:solidFill>
                <a:latin typeface="Montserrat" pitchFamily="2" charset="0"/>
                <a:ea typeface="Montserrat Bold" pitchFamily="34" charset="-122"/>
                <a:cs typeface="Montserrat Bold" pitchFamily="34" charset="-120"/>
              </a:rPr>
              <a:t>Семин Артемий Павлович</a:t>
            </a:r>
            <a:r>
              <a:rPr lang="en-US" sz="2400" b="1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Школа №1329</a:t>
            </a:r>
            <a:r>
              <a:rPr lang="en-US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, </a:t>
            </a:r>
            <a:b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</a:br>
            <a: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10 Т</a:t>
            </a:r>
            <a:r>
              <a:rPr lang="en-US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 класс</a:t>
            </a:r>
            <a:endParaRPr lang="en-US" sz="2400" dirty="0">
              <a:solidFill>
                <a:srgbClr val="325CA8"/>
              </a:solidFill>
              <a:latin typeface="Montserrat Medium" panose="00000600000000000000" pitchFamily="2" charset="-52"/>
            </a:endParaRPr>
          </a:p>
        </p:txBody>
      </p:sp>
      <p:sp>
        <p:nvSpPr>
          <p:cNvPr id="8" name="N">
            <a:extLst>
              <a:ext uri="{FF2B5EF4-FFF2-40B4-BE49-F238E27FC236}">
                <a16:creationId xmlns:a16="http://schemas.microsoft.com/office/drawing/2014/main" id="{B0F2CF46-D830-55A1-FE78-DD88F8DC244A}"/>
              </a:ext>
            </a:extLst>
          </p:cNvPr>
          <p:cNvSpPr/>
          <p:nvPr/>
        </p:nvSpPr>
        <p:spPr>
          <a:xfrm>
            <a:off x="11468100" y="6772275"/>
            <a:ext cx="6553200" cy="2343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ru-RU" sz="2400" kern="0" spc="-75" dirty="0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Руководитель проекта:</a:t>
            </a:r>
          </a:p>
          <a:p>
            <a:pPr marL="0" indent="0" algn="l">
              <a:buNone/>
            </a:pPr>
            <a:r>
              <a:rPr lang="en-US" sz="2400" b="1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ru-RU" sz="2400" kern="0" spc="-75" dirty="0">
                <a:solidFill>
                  <a:srgbClr val="325CA8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преподаватель ДТ «Альтаир»</a:t>
            </a:r>
          </a:p>
          <a:p>
            <a:pPr marL="0" indent="0" algn="l">
              <a:buNone/>
            </a:pPr>
            <a:r>
              <a:rPr lang="ru-RU" sz="4000" b="1" kern="0" spc="-75" dirty="0">
                <a:solidFill>
                  <a:srgbClr val="325CA8"/>
                </a:solidFill>
                <a:latin typeface="Montserrat" pitchFamily="2" charset="0"/>
              </a:rPr>
              <a:t>БОРИСОВ АРТЁМ ИГОРЕВИЧ</a:t>
            </a:r>
            <a:endParaRPr lang="en-US" sz="400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FA946F6-861E-3936-B755-F7FD7FABB3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75771" y="160303"/>
            <a:ext cx="1945529" cy="1375128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641AF4D-2676-BB43-CDE0-AE60586786BD}"/>
              </a:ext>
            </a:extLst>
          </p:cNvPr>
          <p:cNvCxnSpPr>
            <a:cxnSpLocks/>
          </p:cNvCxnSpPr>
          <p:nvPr/>
        </p:nvCxnSpPr>
        <p:spPr>
          <a:xfrm flipH="1">
            <a:off x="11468100" y="3810000"/>
            <a:ext cx="6819900" cy="0"/>
          </a:xfrm>
          <a:prstGeom prst="line">
            <a:avLst/>
          </a:prstGeom>
          <a:ln w="38100">
            <a:solidFill>
              <a:srgbClr val="5CC1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475E1FB-A480-C808-FFD1-74B86A1A6E8A}"/>
              </a:ext>
            </a:extLst>
          </p:cNvPr>
          <p:cNvCxnSpPr>
            <a:cxnSpLocks/>
          </p:cNvCxnSpPr>
          <p:nvPr/>
        </p:nvCxnSpPr>
        <p:spPr>
          <a:xfrm flipH="1">
            <a:off x="11468100" y="7341870"/>
            <a:ext cx="6838950" cy="0"/>
          </a:xfrm>
          <a:prstGeom prst="line">
            <a:avLst/>
          </a:prstGeom>
          <a:ln w="38100">
            <a:solidFill>
              <a:srgbClr val="5CC1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N">
            <a:extLst>
              <a:ext uri="{FF2B5EF4-FFF2-40B4-BE49-F238E27FC236}">
                <a16:creationId xmlns:a16="http://schemas.microsoft.com/office/drawing/2014/main" id="{FF05EA90-9886-AC99-2BD8-6109ECF7F25A}"/>
              </a:ext>
            </a:extLst>
          </p:cNvPr>
          <p:cNvSpPr/>
          <p:nvPr/>
        </p:nvSpPr>
        <p:spPr>
          <a:xfrm>
            <a:off x="11468100" y="1610678"/>
            <a:ext cx="6553200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kern="0" spc="-75" dirty="0" err="1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Проект</a:t>
            </a:r>
            <a:r>
              <a:rPr lang="en-US" sz="2400" kern="0" spc="-75" dirty="0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 выполнил(а)</a:t>
            </a:r>
            <a:r>
              <a:rPr lang="ru-RU" sz="2400" kern="0" spc="-75" dirty="0">
                <a:solidFill>
                  <a:srgbClr val="5CC1CD"/>
                </a:solidFill>
                <a:latin typeface="Montserrat Medium" panose="00000600000000000000" pitchFamily="2" charset="-52"/>
                <a:ea typeface="Montserrat Regular" pitchFamily="34" charset="-122"/>
                <a:cs typeface="Montserrat Regular" pitchFamily="34" charset="-120"/>
              </a:rPr>
              <a:t>:</a:t>
            </a:r>
            <a:endParaRPr lang="en-US" sz="2400" dirty="0">
              <a:solidFill>
                <a:srgbClr val="325CA8"/>
              </a:solidFill>
              <a:latin typeface="Montserrat Medium" panose="00000600000000000000" pitchFamily="2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2366404"/>
            <a:ext cx="11433748" cy="709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/>
              <a:t>Рекордно низкая безработица</a:t>
            </a:r>
            <a:r>
              <a:rPr lang="en-US" sz="3200" dirty="0"/>
              <a:t> [1]</a:t>
            </a:r>
            <a:r>
              <a:rPr lang="ru-RU" sz="3200" dirty="0"/>
              <a:t> и структурный кадровый дефицит на российском рынке труда в 2026 году приводят к недостатку объективных данных у обеих сторон рынка труда при принятии кадровых решений.</a:t>
            </a:r>
          </a:p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/>
              <a:t>Существующие инструменты агрегации вакансий предоставляют усредненные данные, не учитывающие многофакторную природу формирования заработной платы (геолокация, опыт, стек технологий).</a:t>
            </a:r>
          </a:p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/>
              <a:t>Отсутствие объективных инструментов оценки приводит к принятию неоптимальных кадровых решений: заниженным офферам для соискателей и необоснованным переплатам</a:t>
            </a:r>
            <a:endParaRPr lang="ru-RU" sz="3200" dirty="0">
              <a:latin typeface="Montserrat Medium" pitchFamily="2" charset="0"/>
              <a:ea typeface="Inter Regular" pitchFamily="34" charset="-122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20B5FD-503F-1203-486E-77317B663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75771" y="619260"/>
            <a:ext cx="1945529" cy="1375128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EFB5B0C-600F-1AD2-616C-FB85510E1778}"/>
              </a:ext>
            </a:extLst>
          </p:cNvPr>
          <p:cNvSpPr/>
          <p:nvPr/>
        </p:nvSpPr>
        <p:spPr>
          <a:xfrm>
            <a:off x="-1579418" y="619260"/>
            <a:ext cx="10723418" cy="1375128"/>
          </a:xfrm>
          <a:prstGeom prst="roundRect">
            <a:avLst/>
          </a:prstGeom>
          <a:gradFill>
            <a:gsLst>
              <a:gs pos="50000">
                <a:srgbClr val="3392C3"/>
              </a:gs>
              <a:gs pos="0">
                <a:srgbClr val="3353A0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A1B1306D-486A-265A-FCCE-E8CA9828E195}"/>
              </a:ext>
            </a:extLst>
          </p:cNvPr>
          <p:cNvSpPr/>
          <p:nvPr/>
        </p:nvSpPr>
        <p:spPr>
          <a:xfrm>
            <a:off x="1143000" y="720583"/>
            <a:ext cx="8188036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Актуальность</a:t>
            </a:r>
            <a:endParaRPr lang="en-US" sz="72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" name="Google Shape;92;p32">
            <a:extLst>
              <a:ext uri="{FF2B5EF4-FFF2-40B4-BE49-F238E27FC236}">
                <a16:creationId xmlns:a16="http://schemas.microsoft.com/office/drawing/2014/main" id="{92FB1811-9F26-450F-EE7C-CD7B5C6A9E17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2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</p:spTree>
    <p:extLst>
      <p:ext uri="{BB962C8B-B14F-4D97-AF65-F5344CB8AC3E}">
        <p14:creationId xmlns:p14="http://schemas.microsoft.com/office/powerpoint/2010/main" val="271044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6E876501-8729-5F84-A1CE-5FD9F45F5E01}"/>
              </a:ext>
            </a:extLst>
          </p:cNvPr>
          <p:cNvSpPr/>
          <p:nvPr/>
        </p:nvSpPr>
        <p:spPr>
          <a:xfrm>
            <a:off x="-375138" y="1194858"/>
            <a:ext cx="5244320" cy="1375128"/>
          </a:xfrm>
          <a:prstGeom prst="roundRect">
            <a:avLst/>
          </a:prstGeom>
          <a:gradFill>
            <a:gsLst>
              <a:gs pos="50000">
                <a:srgbClr val="3392C3"/>
              </a:gs>
              <a:gs pos="0">
                <a:srgbClr val="3353A0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1"/>
          <p:cNvSpPr/>
          <p:nvPr/>
        </p:nvSpPr>
        <p:spPr>
          <a:xfrm>
            <a:off x="875145" y="3297741"/>
            <a:ext cx="6877050" cy="436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ru-RU" sz="34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Разработать автоматизированную модель для объективной оценки рыночной стоимости специалиста</a:t>
            </a:r>
            <a:endParaRPr lang="en-US" sz="34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</p:txBody>
      </p:sp>
      <p:sp>
        <p:nvSpPr>
          <p:cNvPr id="5" name="default_name"/>
          <p:cNvSpPr/>
          <p:nvPr/>
        </p:nvSpPr>
        <p:spPr>
          <a:xfrm>
            <a:off x="9932670" y="1393986"/>
            <a:ext cx="66865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0"/>
              </a:lnSpc>
              <a:buNone/>
            </a:pPr>
            <a:r>
              <a:rPr lang="en-US" sz="5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Задачи</a:t>
            </a:r>
            <a:endParaRPr lang="en-US" sz="675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sp>
        <p:nvSpPr>
          <p:cNvPr id="13" name="default_name">
            <a:extLst>
              <a:ext uri="{FF2B5EF4-FFF2-40B4-BE49-F238E27FC236}">
                <a16:creationId xmlns:a16="http://schemas.microsoft.com/office/drawing/2014/main" id="{20AB499D-F4C5-CF41-20F6-660F6B0965C3}"/>
              </a:ext>
            </a:extLst>
          </p:cNvPr>
          <p:cNvSpPr/>
          <p:nvPr/>
        </p:nvSpPr>
        <p:spPr>
          <a:xfrm>
            <a:off x="1143000" y="1393986"/>
            <a:ext cx="2661053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0"/>
              </a:lnSpc>
              <a:buNone/>
            </a:pPr>
            <a:r>
              <a:rPr lang="ru-RU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Цель</a:t>
            </a:r>
            <a:endParaRPr lang="en-US" sz="72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91D0D79B-1857-CDD7-DD91-22F178FFBD3C}"/>
              </a:ext>
            </a:extLst>
          </p:cNvPr>
          <p:cNvSpPr/>
          <p:nvPr/>
        </p:nvSpPr>
        <p:spPr>
          <a:xfrm>
            <a:off x="8866909" y="3289428"/>
            <a:ext cx="9154391" cy="6939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4320"/>
              </a:lnSpc>
              <a:spcAft>
                <a:spcPts val="45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Собрать и очистить датасет из 129 00</a:t>
            </a:r>
            <a:r>
              <a:rPr lang="en-US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0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вакансий за 2026 год.</a:t>
            </a:r>
          </a:p>
          <a:p>
            <a:pPr marL="514350" indent="-514350">
              <a:lnSpc>
                <a:spcPts val="4320"/>
              </a:lnSpc>
              <a:spcAft>
                <a:spcPts val="45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Провести разведочный анализ данных (EDA) и визуализацию трендов рынка труда.</a:t>
            </a:r>
          </a:p>
          <a:p>
            <a:pPr marL="514350" indent="-514350">
              <a:lnSpc>
                <a:spcPts val="4320"/>
              </a:lnSpc>
              <a:spcAft>
                <a:spcPts val="45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Обучить алгоритм регрессии </a:t>
            </a:r>
            <a:r>
              <a:rPr lang="ru-RU" sz="28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Random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ru-RU" sz="28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Forest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 для прогнозирования зарплаты.</a:t>
            </a:r>
          </a:p>
          <a:p>
            <a:pPr marL="514350" indent="-514350">
              <a:lnSpc>
                <a:spcPts val="4320"/>
              </a:lnSpc>
              <a:spcAft>
                <a:spcPts val="4500"/>
              </a:spcAft>
              <a:buAutoNum type="arabicPeriod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Реализовать механизм интерпретации результатов (</a:t>
            </a:r>
            <a:r>
              <a:rPr lang="ru-RU" sz="28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Feature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 </a:t>
            </a:r>
            <a:r>
              <a:rPr lang="ru-RU" sz="28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Importance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).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E6FC933-E14A-FD12-E7B0-87AB77FB00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B90573D-6CD5-9CC4-6E0F-BFD99EA3B873}"/>
              </a:ext>
            </a:extLst>
          </p:cNvPr>
          <p:cNvSpPr/>
          <p:nvPr/>
        </p:nvSpPr>
        <p:spPr>
          <a:xfrm>
            <a:off x="9845646" y="2459458"/>
            <a:ext cx="8654110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Google Shape;92;p32">
            <a:extLst>
              <a:ext uri="{FF2B5EF4-FFF2-40B4-BE49-F238E27FC236}">
                <a16:creationId xmlns:a16="http://schemas.microsoft.com/office/drawing/2014/main" id="{7212A88F-8736-040C-2F64-6C956240DA53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3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20B5FD-503F-1203-486E-77317B663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75771" y="619260"/>
            <a:ext cx="1945529" cy="1375128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BC0D4DEC-489B-3F72-53A0-0ECE9B786E6E}"/>
              </a:ext>
            </a:extLst>
          </p:cNvPr>
          <p:cNvSpPr/>
          <p:nvPr/>
        </p:nvSpPr>
        <p:spPr>
          <a:xfrm>
            <a:off x="493834" y="3873397"/>
            <a:ext cx="17300331" cy="6413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ru-RU" sz="2200" b="1" dirty="0">
                <a:latin typeface="Montserrat Medium" pitchFamily="2" charset="0"/>
                <a:ea typeface="Inter Regular" pitchFamily="34" charset="-122"/>
              </a:rPr>
              <a:t>Этап подготовки данных</a:t>
            </a:r>
            <a:r>
              <a:rPr lang="en-US" sz="2200" dirty="0">
                <a:latin typeface="Montserrat Medium" pitchFamily="2" charset="0"/>
                <a:ea typeface="Inter Regular" pitchFamily="34" charset="-122"/>
              </a:rPr>
              <a:t>: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осуществляется загрузка сырого массива вакансий и его первичная обработка. Проводится географическая фильтрация: исключаются регионы за пределами РФ, а также населенные пункты с объемом выборки менее 500 наблюдений для обеспечения статистической достоверности результатов.</a:t>
            </a: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ru-RU" sz="2200" b="1" dirty="0">
                <a:latin typeface="Montserrat Medium" pitchFamily="2" charset="0"/>
                <a:ea typeface="Inter Regular" pitchFamily="34" charset="-122"/>
              </a:rPr>
              <a:t>Разведочный анализ и визуализация</a:t>
            </a:r>
            <a:r>
              <a:rPr lang="en-US" sz="2200" b="1" dirty="0">
                <a:latin typeface="Montserrat Medium" pitchFamily="2" charset="0"/>
                <a:ea typeface="Inter Regular" pitchFamily="34" charset="-122"/>
              </a:rPr>
              <a:t>: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применяются библиотеки Python (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pandas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,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seaborn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) для исследования структуры данных. Строятся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боксплоты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(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boxplot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) для выявления медианных значений и выбросов в разрезе уровня опыта, а также гистограммы для определения модальных зарплатных диапазонов рынка.</a:t>
            </a: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ru-RU" sz="2200" b="1" dirty="0">
                <a:latin typeface="Montserrat Medium" pitchFamily="2" charset="0"/>
                <a:ea typeface="Inter Regular" pitchFamily="34" charset="-122"/>
              </a:rPr>
              <a:t>Обучение регрессионной модели</a:t>
            </a:r>
            <a:r>
              <a:rPr lang="en-US" sz="2200" dirty="0">
                <a:latin typeface="Montserrat Medium" pitchFamily="2" charset="0"/>
                <a:ea typeface="Inter Regular" pitchFamily="34" charset="-122"/>
              </a:rPr>
              <a:t>: 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используется алгоритм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Random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Forest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Regressor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. Категориальные признаки (город, формат занятости, уровень опыта) преобразуются в числовой формат методом One-Hot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Encoding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. Обучение производится на обучающей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подвыборке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, а итоговая точность прогноза верифицируется на тестовой выборке посредством метрик МАЕ (средняя абсолютная ошибка) и RMSE.</a:t>
            </a: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ru-RU" sz="2200" b="1" dirty="0">
                <a:latin typeface="Montserrat Medium" pitchFamily="2" charset="0"/>
                <a:ea typeface="Inter Regular" pitchFamily="34" charset="-122"/>
              </a:rPr>
              <a:t>Интерпретация и оценка значимости факторов</a:t>
            </a:r>
            <a:r>
              <a:rPr lang="en-US" sz="2200" dirty="0">
                <a:latin typeface="Montserrat Medium" pitchFamily="2" charset="0"/>
                <a:ea typeface="Inter Regular" pitchFamily="34" charset="-122"/>
              </a:rPr>
              <a:t>: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для обеспечения прозрачности работы модели применяется метод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Feature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 </a:t>
            </a:r>
            <a:r>
              <a:rPr lang="ru-RU" sz="2200" dirty="0" err="1">
                <a:latin typeface="Montserrat Medium" pitchFamily="2" charset="0"/>
                <a:ea typeface="Inter Regular" pitchFamily="34" charset="-122"/>
              </a:rPr>
              <a:t>Importance</a:t>
            </a:r>
            <a:r>
              <a:rPr lang="ru-RU" sz="2200" dirty="0">
                <a:latin typeface="Montserrat Medium" pitchFamily="2" charset="0"/>
                <a:ea typeface="Inter Regular" pitchFamily="34" charset="-122"/>
              </a:rPr>
              <a:t>. Рассчитывается вклад каждого признака в формирование итогового прогноза, что позволяет количественно оценить влияние конкретных профессиональных компетенций и параметров вакансии на рыночную стоимость специалиста.</a:t>
            </a: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endParaRPr lang="ru-RU" sz="2200" dirty="0">
              <a:latin typeface="Montserrat Medium" pitchFamily="2" charset="0"/>
              <a:ea typeface="Inter Regular" pitchFamily="34" charset="-122"/>
            </a:endParaRP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endParaRPr lang="ru-RU" sz="2200" dirty="0">
              <a:latin typeface="Montserrat Medium" pitchFamily="2" charset="0"/>
              <a:ea typeface="Inter Regular" pitchFamily="34" charset="-122"/>
            </a:endParaRPr>
          </a:p>
          <a:p>
            <a:pPr marL="514350" indent="-51435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endParaRPr lang="en-US" sz="2200" dirty="0">
              <a:latin typeface="Montserrat Medium" pitchFamily="2" charset="0"/>
              <a:ea typeface="Inter Regular" pitchFamily="34" charset="-122"/>
            </a:endParaRPr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C1C3407A-B156-A844-465E-3BD663092D63}"/>
              </a:ext>
            </a:extLst>
          </p:cNvPr>
          <p:cNvSpPr/>
          <p:nvPr/>
        </p:nvSpPr>
        <p:spPr>
          <a:xfrm>
            <a:off x="1143000" y="862123"/>
            <a:ext cx="10383982" cy="213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325BA7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Методика</a:t>
            </a:r>
          </a:p>
          <a:p>
            <a:pPr marL="0" indent="0" algn="l">
              <a:buNone/>
            </a:pPr>
            <a:r>
              <a:rPr lang="ru-RU" sz="7200" b="1" dirty="0">
                <a:solidFill>
                  <a:srgbClr val="325BA7"/>
                </a:solidFill>
                <a:latin typeface="Montserrat" pitchFamily="2" charset="0"/>
                <a:ea typeface="Inter Medium" pitchFamily="34" charset="-122"/>
              </a:rPr>
              <a:t>выполнения работы</a:t>
            </a:r>
            <a:endParaRPr lang="en-US" sz="7200" b="1" dirty="0">
              <a:solidFill>
                <a:srgbClr val="325BA7"/>
              </a:solidFill>
              <a:latin typeface="Montserrat" pitchFamily="2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FCC50C-D4DE-1FA6-AAA9-76A93D8B4AB7}"/>
              </a:ext>
            </a:extLst>
          </p:cNvPr>
          <p:cNvSpPr/>
          <p:nvPr/>
        </p:nvSpPr>
        <p:spPr>
          <a:xfrm>
            <a:off x="-1" y="3188111"/>
            <a:ext cx="12671426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B555D6F2-EB02-07FE-5577-F484A5B3D8DC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4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</p:spTree>
    <p:extLst>
      <p:ext uri="{BB962C8B-B14F-4D97-AF65-F5344CB8AC3E}">
        <p14:creationId xmlns:p14="http://schemas.microsoft.com/office/powerpoint/2010/main" val="1676063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9932670" y="3268764"/>
            <a:ext cx="6686550" cy="2771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spcAft>
                <a:spcPts val="4500"/>
              </a:spcAft>
              <a:buNone/>
            </a:pPr>
            <a:r>
              <a:rPr lang="ru-RU" sz="3200" dirty="0">
                <a:latin typeface="Montserrat Medium" pitchFamily="2" charset="0"/>
              </a:rPr>
              <a:t>Персональный компьютер и ноутбук на </a:t>
            </a:r>
            <a:r>
              <a:rPr lang="en-US" sz="3200" dirty="0">
                <a:latin typeface="Montserrat Medium" pitchFamily="2" charset="0"/>
              </a:rPr>
              <a:t>Windows 11,</a:t>
            </a:r>
            <a:r>
              <a:rPr lang="ru-RU" sz="3200" dirty="0">
                <a:latin typeface="Montserrat Medium" pitchFamily="2" charset="0"/>
              </a:rPr>
              <a:t> </a:t>
            </a:r>
            <a:r>
              <a:rPr lang="en-US" sz="3200" dirty="0">
                <a:latin typeface="Montserrat Medium" pitchFamily="2" charset="0"/>
              </a:rPr>
              <a:t>PyCharm</a:t>
            </a:r>
          </a:p>
        </p:txBody>
      </p:sp>
      <p:sp>
        <p:nvSpPr>
          <p:cNvPr id="8" name="default_name">
            <a:extLst>
              <a:ext uri="{FF2B5EF4-FFF2-40B4-BE49-F238E27FC236}">
                <a16:creationId xmlns:a16="http://schemas.microsoft.com/office/drawing/2014/main" id="{F4F9021D-26B4-4C3E-AD42-ECA7B33EDC81}"/>
              </a:ext>
            </a:extLst>
          </p:cNvPr>
          <p:cNvSpPr/>
          <p:nvPr/>
        </p:nvSpPr>
        <p:spPr>
          <a:xfrm>
            <a:off x="9932670" y="1046190"/>
            <a:ext cx="6686550" cy="137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Оборудование </a:t>
            </a:r>
            <a:br>
              <a:rPr lang="ru-RU" sz="4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</a:br>
            <a:r>
              <a:rPr lang="ru-RU" sz="4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и ПО</a:t>
            </a:r>
            <a:endParaRPr lang="en-US" sz="600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sp>
        <p:nvSpPr>
          <p:cNvPr id="11" name="default_name">
            <a:extLst>
              <a:ext uri="{FF2B5EF4-FFF2-40B4-BE49-F238E27FC236}">
                <a16:creationId xmlns:a16="http://schemas.microsoft.com/office/drawing/2014/main" id="{60D82716-C3C1-B1FB-DFC7-B89C6138BA54}"/>
              </a:ext>
            </a:extLst>
          </p:cNvPr>
          <p:cNvSpPr/>
          <p:nvPr/>
        </p:nvSpPr>
        <p:spPr>
          <a:xfrm>
            <a:off x="1143000" y="1046190"/>
            <a:ext cx="6686550" cy="71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4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Материалы</a:t>
            </a:r>
            <a:endParaRPr lang="en-US" sz="4400" b="1" dirty="0">
              <a:solidFill>
                <a:srgbClr val="325CA8"/>
              </a:solidFill>
              <a:latin typeface="Montserrat" pitchFamily="2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30E981F-6F82-B8EF-070C-C18708FC6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135EF2-7E09-74F8-0435-507B7AA9F347}"/>
              </a:ext>
            </a:extLst>
          </p:cNvPr>
          <p:cNvSpPr/>
          <p:nvPr/>
        </p:nvSpPr>
        <p:spPr>
          <a:xfrm>
            <a:off x="9845646" y="2584070"/>
            <a:ext cx="8442354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0AFF9DA-9463-F30A-A67E-09484A143D20}"/>
              </a:ext>
            </a:extLst>
          </p:cNvPr>
          <p:cNvSpPr/>
          <p:nvPr/>
        </p:nvSpPr>
        <p:spPr>
          <a:xfrm rot="10800000">
            <a:off x="0" y="1870025"/>
            <a:ext cx="8654110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3CBDEF45-C097-B1FC-8CA0-97D85F467F24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5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E1C72-FF1D-59BF-A6D1-69DD0A39D2D9}"/>
              </a:ext>
            </a:extLst>
          </p:cNvPr>
          <p:cNvSpPr txBox="1"/>
          <p:nvPr/>
        </p:nvSpPr>
        <p:spPr>
          <a:xfrm>
            <a:off x="285750" y="2421318"/>
            <a:ext cx="8442354" cy="505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>
                <a:latin typeface="Montserrat Medium" pitchFamily="2" charset="0"/>
              </a:rPr>
              <a:t>Язык программирования </a:t>
            </a:r>
            <a:r>
              <a:rPr lang="en-US" sz="3200" dirty="0">
                <a:latin typeface="Montserrat Medium" pitchFamily="2" charset="0"/>
              </a:rPr>
              <a:t>Python 3.14.</a:t>
            </a:r>
          </a:p>
          <a:p>
            <a:pPr marL="457200" indent="-457200"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>
                <a:latin typeface="Montserrat Medium" pitchFamily="2" charset="0"/>
              </a:rPr>
              <a:t>Библиотеки</a:t>
            </a:r>
            <a:r>
              <a:rPr lang="en-US" sz="3200" dirty="0">
                <a:latin typeface="Montserrat Medium" pitchFamily="2" charset="0"/>
              </a:rPr>
              <a:t>: Pandas, NumPy, Matplotlib, Seaborn.</a:t>
            </a:r>
          </a:p>
          <a:p>
            <a:pPr marL="457200" indent="-457200"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3200" dirty="0">
                <a:latin typeface="Montserrat Medium" pitchFamily="2" charset="0"/>
              </a:rPr>
              <a:t>Датасет «</a:t>
            </a:r>
            <a:r>
              <a:rPr lang="en-US" sz="3200" dirty="0">
                <a:latin typeface="Montserrat Medium" pitchFamily="2" charset="0"/>
              </a:rPr>
              <a:t>hh_vacancies_2026_07</a:t>
            </a:r>
            <a:r>
              <a:rPr lang="ru-RU" sz="3200" dirty="0">
                <a:latin typeface="Montserrat Medium" pitchFamily="2" charset="0"/>
              </a:rPr>
              <a:t>»</a:t>
            </a:r>
            <a:r>
              <a:rPr lang="en-US" sz="3200" dirty="0">
                <a:latin typeface="Montserrat Medium" pitchFamily="2" charset="0"/>
              </a:rPr>
              <a:t> [2].</a:t>
            </a:r>
          </a:p>
          <a:p>
            <a:endParaRPr lang="en-US" sz="3200" dirty="0">
              <a:latin typeface="Montserrat Medium" pitchFamily="2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E9919-4C14-173A-1224-D0C90529A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9BFF2613-81A2-61F1-5F06-A6A8D5E52E63}"/>
              </a:ext>
            </a:extLst>
          </p:cNvPr>
          <p:cNvSpPr/>
          <p:nvPr/>
        </p:nvSpPr>
        <p:spPr>
          <a:xfrm>
            <a:off x="-921096" y="619260"/>
            <a:ext cx="8434005" cy="1375128"/>
          </a:xfrm>
          <a:prstGeom prst="roundRect">
            <a:avLst/>
          </a:prstGeom>
          <a:gradFill>
            <a:gsLst>
              <a:gs pos="50000">
                <a:srgbClr val="3392C3"/>
              </a:gs>
              <a:gs pos="0">
                <a:srgbClr val="3353A0"/>
              </a:gs>
              <a:gs pos="100000">
                <a:srgbClr val="A6D9DE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7E88F92-212F-77EB-3020-DE5D53441FCB}"/>
              </a:ext>
            </a:extLst>
          </p:cNvPr>
          <p:cNvSpPr/>
          <p:nvPr/>
        </p:nvSpPr>
        <p:spPr>
          <a:xfrm>
            <a:off x="842325" y="2552413"/>
            <a:ext cx="16660584" cy="757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Функционирующая оценочная модель МОСС с веб-интерфейсом на базе библиотеки Streamlit для интерактивного прогнозирования рыночной заработной платы.</a:t>
            </a:r>
            <a:endParaRPr lang="en-US" sz="28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Очищенный и структурированный датасет, пригодный для дальнейшего анализа и воспроизводимости исследования.</a:t>
            </a:r>
            <a:endParaRPr lang="en-US" sz="28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Комплекс визуализаций (</a:t>
            </a:r>
            <a:r>
              <a:rPr lang="ru-RU" sz="28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боксплоты</a:t>
            </a: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, гистограммы распределения), демонстрирующий ключевые тренды российского рынка труда в 2026 году.</a:t>
            </a:r>
            <a:endParaRPr lang="en-US" sz="28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  <a:p>
            <a:pPr marL="457200" indent="-457200">
              <a:lnSpc>
                <a:spcPts val="4320"/>
              </a:lnSpc>
              <a:spcAft>
                <a:spcPts val="4500"/>
              </a:spcAft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Функция объяснения прогноза: система наглядно показывает, какие именно навыки и опыт сильнее всего влияют на итоговую зарплату.</a:t>
            </a:r>
            <a:br>
              <a:rPr lang="ru-RU" sz="28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</a:br>
            <a:endParaRPr lang="ru-RU" sz="28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  <a:p>
            <a:pPr>
              <a:lnSpc>
                <a:spcPts val="4320"/>
              </a:lnSpc>
              <a:spcAft>
                <a:spcPts val="4500"/>
              </a:spcAft>
            </a:pPr>
            <a:endParaRPr lang="ru-RU" sz="32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  <a:cs typeface="Inter Regular" pitchFamily="34" charset="-120"/>
            </a:endParaRPr>
          </a:p>
        </p:txBody>
      </p:sp>
      <p:sp>
        <p:nvSpPr>
          <p:cNvPr id="11" name="default_name">
            <a:extLst>
              <a:ext uri="{FF2B5EF4-FFF2-40B4-BE49-F238E27FC236}">
                <a16:creationId xmlns:a16="http://schemas.microsoft.com/office/drawing/2014/main" id="{17CDB05C-3A36-6569-119F-547C4BFB039A}"/>
              </a:ext>
            </a:extLst>
          </p:cNvPr>
          <p:cNvSpPr/>
          <p:nvPr/>
        </p:nvSpPr>
        <p:spPr>
          <a:xfrm>
            <a:off x="1143000" y="720583"/>
            <a:ext cx="6048632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Что будет</a:t>
            </a:r>
            <a:r>
              <a:rPr lang="en-US" sz="7200" b="1" dirty="0">
                <a:solidFill>
                  <a:schemeClr val="bg1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?</a:t>
            </a:r>
            <a:endParaRPr lang="en-US" sz="72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C3CBBFB-8C12-C4A3-ECDC-5552BE370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2" name="Google Shape;92;p32">
            <a:extLst>
              <a:ext uri="{FF2B5EF4-FFF2-40B4-BE49-F238E27FC236}">
                <a16:creationId xmlns:a16="http://schemas.microsoft.com/office/drawing/2014/main" id="{32274CE1-6C50-414E-EBAA-A656657D99CF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6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</p:spTree>
    <p:extLst>
      <p:ext uri="{BB962C8B-B14F-4D97-AF65-F5344CB8AC3E}">
        <p14:creationId xmlns:p14="http://schemas.microsoft.com/office/powerpoint/2010/main" val="2182135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11FFDC6-489F-ED73-DBE3-CC0346A135FB}"/>
              </a:ext>
            </a:extLst>
          </p:cNvPr>
          <p:cNvSpPr/>
          <p:nvPr/>
        </p:nvSpPr>
        <p:spPr>
          <a:xfrm>
            <a:off x="930562" y="3866474"/>
            <a:ext cx="16573499" cy="5769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en-US" sz="26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  <a:cs typeface="Inter Regular" pitchFamily="34" charset="-120"/>
              </a:rPr>
              <a:t>[1] - </a:t>
            </a:r>
            <a:r>
              <a:rPr lang="ru-RU" sz="26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Прогноз рынка труда в России до 2028 года // РОСКОНГРЕСС URL: https://roscongress.ru/materials/rynok-truda-rossii-do-2028-goda-zanyatost-defitsit-kadrov-i-programmy-pereobucheniya/?ysclid=mve9dyja3204713488&amp;utm_referrer=https%3A%2F%2Fyandex.ru%2F (дата обращения: 18.10.2026).</a:t>
            </a:r>
            <a:endParaRPr lang="en-US" sz="26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</a:endParaRPr>
          </a:p>
          <a:p>
            <a:pPr>
              <a:lnSpc>
                <a:spcPts val="4320"/>
              </a:lnSpc>
              <a:spcAft>
                <a:spcPts val="4500"/>
              </a:spcAft>
            </a:pPr>
            <a:r>
              <a:rPr lang="en-US" sz="26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[2] - Russian Job Market Vacancies from hh.ru (2026) // </a:t>
            </a:r>
            <a:r>
              <a:rPr lang="en-US" sz="2600" dirty="0" err="1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kaggle</a:t>
            </a:r>
            <a:r>
              <a:rPr lang="en-US" sz="26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 URL: https://www.kaggle.com/datasets/anastasiavdovina/russian-job-market-vacancies-from-hh-ru-2026?select=hh_vacancies_2026_07.csv (</a:t>
            </a:r>
            <a:r>
              <a:rPr lang="ru-RU" sz="2600" dirty="0">
                <a:solidFill>
                  <a:srgbClr val="1C1628"/>
                </a:solidFill>
                <a:latin typeface="Montserrat Medium" pitchFamily="2" charset="0"/>
                <a:ea typeface="Inter Regular" pitchFamily="34" charset="-122"/>
              </a:rPr>
              <a:t>дата обращения: 18.10.2026).</a:t>
            </a:r>
          </a:p>
          <a:p>
            <a:pPr marL="0" indent="0" algn="l">
              <a:lnSpc>
                <a:spcPts val="4320"/>
              </a:lnSpc>
              <a:spcAft>
                <a:spcPts val="4500"/>
              </a:spcAft>
              <a:buNone/>
            </a:pPr>
            <a:endParaRPr lang="ru-RU" sz="3200" dirty="0">
              <a:solidFill>
                <a:srgbClr val="1C1628"/>
              </a:solidFill>
              <a:latin typeface="Montserrat Medium" pitchFamily="2" charset="0"/>
              <a:ea typeface="Inter Regular" pitchFamily="34" charset="-122"/>
              <a:cs typeface="Inter Regular" pitchFamily="34" charset="-12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611B86-1864-A6D2-8BEA-5425E88FFA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075771" y="160303"/>
            <a:ext cx="1945529" cy="1375128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8D58500-7556-013B-2FA3-57B2D8DF7BBA}"/>
              </a:ext>
            </a:extLst>
          </p:cNvPr>
          <p:cNvSpPr/>
          <p:nvPr/>
        </p:nvSpPr>
        <p:spPr>
          <a:xfrm>
            <a:off x="-2" y="3188111"/>
            <a:ext cx="14484351" cy="131848"/>
          </a:xfrm>
          <a:prstGeom prst="rect">
            <a:avLst/>
          </a:prstGeom>
          <a:gradFill flip="none" rotWithShape="1">
            <a:gsLst>
              <a:gs pos="0">
                <a:srgbClr val="3254A2"/>
              </a:gs>
              <a:gs pos="50000">
                <a:srgbClr val="3392C3"/>
              </a:gs>
              <a:gs pos="100000">
                <a:srgbClr val="5CC1CD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E7368BFF-419B-DF09-6F52-1A78D673C90A}"/>
              </a:ext>
            </a:extLst>
          </p:cNvPr>
          <p:cNvSpPr/>
          <p:nvPr/>
        </p:nvSpPr>
        <p:spPr>
          <a:xfrm>
            <a:off x="1142999" y="862123"/>
            <a:ext cx="12656127" cy="213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7200" b="1" dirty="0">
                <a:solidFill>
                  <a:srgbClr val="325CA8"/>
                </a:solidFill>
                <a:latin typeface="Montserrat" pitchFamily="2" charset="0"/>
                <a:ea typeface="Inter Medium" pitchFamily="34" charset="-122"/>
                <a:cs typeface="Inter Medium" pitchFamily="34" charset="-120"/>
              </a:rPr>
              <a:t>Список использованных источников</a:t>
            </a:r>
          </a:p>
        </p:txBody>
      </p:sp>
      <p:sp>
        <p:nvSpPr>
          <p:cNvPr id="2" name="Google Shape;92;p32">
            <a:extLst>
              <a:ext uri="{FF2B5EF4-FFF2-40B4-BE49-F238E27FC236}">
                <a16:creationId xmlns:a16="http://schemas.microsoft.com/office/drawing/2014/main" id="{0CA2C9F7-5A70-4F40-9E1F-813992580032}"/>
              </a:ext>
            </a:extLst>
          </p:cNvPr>
          <p:cNvSpPr txBox="1">
            <a:spLocks/>
          </p:cNvSpPr>
          <p:nvPr/>
        </p:nvSpPr>
        <p:spPr>
          <a:xfrm>
            <a:off x="17349892" y="9863519"/>
            <a:ext cx="1048511" cy="27482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SzPts val="3600"/>
            </a:pPr>
            <a:fld id="{00000000-1234-1234-1234-123412341234}" type="slidenum">
              <a:rPr lang="ru-RU" sz="2600">
                <a:solidFill>
                  <a:srgbClr val="3353A0"/>
                </a:solidFill>
                <a:latin typeface="Montserrat Medium" pitchFamily="2" charset="0"/>
              </a:rPr>
              <a:pPr algn="l" defTabSz="914400">
                <a:buSzPts val="3600"/>
              </a:pPr>
              <a:t>7</a:t>
            </a:fld>
            <a:r>
              <a:rPr lang="ru-RU" sz="2600" dirty="0">
                <a:solidFill>
                  <a:srgbClr val="3353A0"/>
                </a:solidFill>
                <a:latin typeface="Montserrat Medium" pitchFamily="2" charset="0"/>
              </a:rPr>
              <a:t> / 7</a:t>
            </a:r>
          </a:p>
        </p:txBody>
      </p:sp>
    </p:spTree>
    <p:extLst>
      <p:ext uri="{BB962C8B-B14F-4D97-AF65-F5344CB8AC3E}">
        <p14:creationId xmlns:p14="http://schemas.microsoft.com/office/powerpoint/2010/main" val="145189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12085</TotalTime>
  <Words>587</Words>
  <Application>Microsoft Office PowerPoint</Application>
  <PresentationFormat>Произвольный</PresentationFormat>
  <Paragraphs>52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Montserrat</vt:lpstr>
      <vt:lpstr>Montserrat Medium</vt:lpstr>
      <vt:lpstr>Montserrat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Артемий Семин</cp:lastModifiedBy>
  <cp:revision>15</cp:revision>
  <dcterms:created xsi:type="dcterms:W3CDTF">2025-01-14T09:23:53Z</dcterms:created>
  <dcterms:modified xsi:type="dcterms:W3CDTF">2026-10-23T12:40:53Z</dcterms:modified>
</cp:coreProperties>
</file>