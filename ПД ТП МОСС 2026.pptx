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91" r:id="rId3"/>
    <p:sldId id="257" r:id="rId4"/>
    <p:sldId id="298" r:id="rId5"/>
    <p:sldId id="289" r:id="rId6"/>
    <p:sldId id="299" r:id="rId7"/>
    <p:sldId id="293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BA7"/>
    <a:srgbClr val="5CC1CD"/>
    <a:srgbClr val="3392C3"/>
    <a:srgbClr val="3254A2"/>
    <a:srgbClr val="3353A0"/>
    <a:srgbClr val="A6D9DE"/>
    <a:srgbClr val="1B325D"/>
    <a:srgbClr val="334E9D"/>
    <a:srgbClr val="32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73"/>
    <p:restoredTop sz="96805"/>
  </p:normalViewPr>
  <p:slideViewPr>
    <p:cSldViewPr snapToGrid="0" snapToObjects="1">
      <p:cViewPr varScale="1">
        <p:scale>
          <a:sx n="104" d="100"/>
          <a:sy n="104" d="100"/>
        </p:scale>
        <p:origin x="18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50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9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78F9-FC86-9269-A519-40838304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E76F0-263B-A0BA-9F67-B19966853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A6A20-95AF-4261-5F3B-CCF2AF10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B0EAB-313F-0DFF-3E53-3C4D73DA6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86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8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514725"/>
            <a:ext cx="8229600" cy="325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0"/>
              </a:lnSpc>
              <a:buNone/>
            </a:pPr>
            <a:r>
              <a:rPr lang="ru-RU" sz="6000" b="1" dirty="0">
                <a:solidFill>
                  <a:srgbClr val="FFFFFF"/>
                </a:solidFill>
                <a:latin typeface="Montserrat SemiBold" pitchFamily="2" charset="0"/>
                <a:ea typeface="Montserrat Medium" pitchFamily="34" charset="-122"/>
                <a:cs typeface="Montserrat Medium" pitchFamily="34" charset="-120"/>
              </a:rPr>
              <a:t>Модель оценки стоимости специалиста</a:t>
            </a:r>
            <a:endParaRPr lang="en-US" sz="6000" b="1" dirty="0">
              <a:latin typeface="Montserrat SemiBold" pitchFamily="2" charset="0"/>
            </a:endParaRPr>
          </a:p>
        </p:txBody>
      </p:sp>
      <p:sp>
        <p:nvSpPr>
          <p:cNvPr id="4" name="N"/>
          <p:cNvSpPr/>
          <p:nvPr/>
        </p:nvSpPr>
        <p:spPr>
          <a:xfrm>
            <a:off x="11468100" y="3962993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b="1" kern="0" spc="-75" dirty="0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Хайретдинова Диана Наилевна</a:t>
            </a:r>
          </a:p>
          <a:p>
            <a:pPr marL="0" indent="0" algn="l">
              <a:buNone/>
            </a:pPr>
            <a:r>
              <a:rPr lang="ru-RU" sz="3600" b="1" kern="0" spc="-75" dirty="0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Семин Артемий Павлович</a:t>
            </a:r>
            <a:r>
              <a:rPr lang="en-US" sz="2400" b="1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Школа №1329</a:t>
            </a:r>
            <a:r>
              <a:rPr lang="en-US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, </a:t>
            </a:r>
            <a:b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</a:b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10 Т</a:t>
            </a:r>
            <a:r>
              <a:rPr lang="en-US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 класс</a:t>
            </a:r>
            <a:endParaRPr lang="en-US" sz="2400" dirty="0">
              <a:solidFill>
                <a:srgbClr val="325CA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" name="N">
            <a:extLst>
              <a:ext uri="{FF2B5EF4-FFF2-40B4-BE49-F238E27FC236}">
                <a16:creationId xmlns:a16="http://schemas.microsoft.com/office/drawing/2014/main" id="{B0F2CF46-D830-55A1-FE78-DD88F8DC244A}"/>
              </a:ext>
            </a:extLst>
          </p:cNvPr>
          <p:cNvSpPr/>
          <p:nvPr/>
        </p:nvSpPr>
        <p:spPr>
          <a:xfrm>
            <a:off x="11468100" y="6772275"/>
            <a:ext cx="655320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ru-RU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Руководитель проекта:</a:t>
            </a:r>
          </a:p>
          <a:p>
            <a:pPr marL="0" indent="0" algn="l">
              <a:buNone/>
            </a:pPr>
            <a:r>
              <a:rPr lang="en-US" sz="2400" b="1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преподаватель ДТ «Альтаир»</a:t>
            </a:r>
          </a:p>
          <a:p>
            <a:pPr marL="0" indent="0" algn="l">
              <a:buNone/>
            </a:pPr>
            <a:r>
              <a:rPr lang="ru-RU" sz="4000" b="1" kern="0" spc="-75" dirty="0">
                <a:solidFill>
                  <a:srgbClr val="325CA8"/>
                </a:solidFill>
                <a:latin typeface="Montserrat" pitchFamily="2" charset="0"/>
              </a:rPr>
              <a:t>БОРИСОВ АРТЁМ ИГОРЕВИЧ</a:t>
            </a:r>
            <a:endParaRPr lang="en-US" sz="40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FA946F6-861E-3936-B755-F7FD7FABB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41AF4D-2676-BB43-CDE0-AE60586786BD}"/>
              </a:ext>
            </a:extLst>
          </p:cNvPr>
          <p:cNvCxnSpPr>
            <a:cxnSpLocks/>
          </p:cNvCxnSpPr>
          <p:nvPr/>
        </p:nvCxnSpPr>
        <p:spPr>
          <a:xfrm flipH="1">
            <a:off x="11468100" y="3810000"/>
            <a:ext cx="681990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475E1FB-A480-C808-FFD1-74B86A1A6E8A}"/>
              </a:ext>
            </a:extLst>
          </p:cNvPr>
          <p:cNvCxnSpPr>
            <a:cxnSpLocks/>
          </p:cNvCxnSpPr>
          <p:nvPr/>
        </p:nvCxnSpPr>
        <p:spPr>
          <a:xfrm flipH="1">
            <a:off x="11468100" y="7341870"/>
            <a:ext cx="683895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N">
            <a:extLst>
              <a:ext uri="{FF2B5EF4-FFF2-40B4-BE49-F238E27FC236}">
                <a16:creationId xmlns:a16="http://schemas.microsoft.com/office/drawing/2014/main" id="{FF05EA90-9886-AC99-2BD8-6109ECF7F25A}"/>
              </a:ext>
            </a:extLst>
          </p:cNvPr>
          <p:cNvSpPr/>
          <p:nvPr/>
        </p:nvSpPr>
        <p:spPr>
          <a:xfrm>
            <a:off x="11468100" y="1610678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kern="0" spc="-75" dirty="0" err="1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Проект</a:t>
            </a:r>
            <a:r>
              <a:rPr lang="en-US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 выполнил(а)</a:t>
            </a:r>
            <a:r>
              <a:rPr lang="ru-RU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:</a:t>
            </a:r>
            <a:endParaRPr lang="en-US" sz="2400" dirty="0">
              <a:solidFill>
                <a:srgbClr val="325CA8"/>
              </a:solidFill>
              <a:latin typeface="Montserrat Medium" panose="00000600000000000000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2366404"/>
            <a:ext cx="11433748" cy="709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Рекордно низкая безработица</a:t>
            </a:r>
            <a:r>
              <a:rPr lang="en-US" sz="3200" dirty="0"/>
              <a:t> [1]</a:t>
            </a:r>
            <a:r>
              <a:rPr lang="ru-RU" sz="3200" dirty="0"/>
              <a:t> и структурный кадровый дефицит на российском рынке труда в 2026 году приводят к недостатку объективных данных у обеих сторон рынка труда при принятии кадровых решений.</a:t>
            </a: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Существующие инструменты агрегации вакансий предоставляют усредненные данные, не учитывающие многофакторную природу формирования заработной платы (геолокация, опыт, стек технологий).</a:t>
            </a: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Отсутствие объективных инструментов оценки приводит к принятию неоптимальных кадровых решений: заниженным офферам для соискателей и необоснованным переплатам</a:t>
            </a:r>
            <a:endParaRPr lang="ru-RU" sz="3200" dirty="0">
              <a:latin typeface="Montserrat Medium" pitchFamily="2" charset="0"/>
              <a:ea typeface="Inter Regular" pitchFamily="34" charset="-12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20B5FD-503F-1203-486E-77317B663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619260"/>
            <a:ext cx="1945529" cy="1375128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EFB5B0C-600F-1AD2-616C-FB85510E1778}"/>
              </a:ext>
            </a:extLst>
          </p:cNvPr>
          <p:cNvSpPr/>
          <p:nvPr/>
        </p:nvSpPr>
        <p:spPr>
          <a:xfrm>
            <a:off x="-1579418" y="619260"/>
            <a:ext cx="10723418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A1B1306D-486A-265A-FCCE-E8CA9828E195}"/>
              </a:ext>
            </a:extLst>
          </p:cNvPr>
          <p:cNvSpPr/>
          <p:nvPr/>
        </p:nvSpPr>
        <p:spPr>
          <a:xfrm>
            <a:off x="1143000" y="720583"/>
            <a:ext cx="8188036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Актуальность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92FB1811-9F26-450F-EE7C-CD7B5C6A9E17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2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271044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6E876501-8729-5F84-A1CE-5FD9F45F5E01}"/>
              </a:ext>
            </a:extLst>
          </p:cNvPr>
          <p:cNvSpPr/>
          <p:nvPr/>
        </p:nvSpPr>
        <p:spPr>
          <a:xfrm>
            <a:off x="-375138" y="1194858"/>
            <a:ext cx="5244320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875145" y="3297741"/>
            <a:ext cx="6877050" cy="436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4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Разработать автоматизированную модель для объективной оценки рыночной стоимости специалиста</a:t>
            </a:r>
            <a:endParaRPr lang="en-US" sz="34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</p:txBody>
      </p:sp>
      <p:sp>
        <p:nvSpPr>
          <p:cNvPr id="5" name="default_name"/>
          <p:cNvSpPr/>
          <p:nvPr/>
        </p:nvSpPr>
        <p:spPr>
          <a:xfrm>
            <a:off x="9932670" y="1393986"/>
            <a:ext cx="66865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Задачи</a:t>
            </a:r>
            <a:endParaRPr lang="en-US" sz="675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sp>
        <p:nvSpPr>
          <p:cNvPr id="13" name="default_name">
            <a:extLst>
              <a:ext uri="{FF2B5EF4-FFF2-40B4-BE49-F238E27FC236}">
                <a16:creationId xmlns:a16="http://schemas.microsoft.com/office/drawing/2014/main" id="{20AB499D-F4C5-CF41-20F6-660F6B0965C3}"/>
              </a:ext>
            </a:extLst>
          </p:cNvPr>
          <p:cNvSpPr/>
          <p:nvPr/>
        </p:nvSpPr>
        <p:spPr>
          <a:xfrm>
            <a:off x="1143000" y="1393986"/>
            <a:ext cx="2661053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Цель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1D0D79B-1857-CDD7-DD91-22F178FFBD3C}"/>
              </a:ext>
            </a:extLst>
          </p:cNvPr>
          <p:cNvSpPr/>
          <p:nvPr/>
        </p:nvSpPr>
        <p:spPr>
          <a:xfrm>
            <a:off x="8866909" y="3289428"/>
            <a:ext cx="9154391" cy="693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Собрать и очистить датасет из 129 00</a:t>
            </a:r>
            <a:r>
              <a:rPr lang="en-US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0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вакансий за 2026 год.</a:t>
            </a:r>
          </a:p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Провести разведочный анализ данных (EDA) и визуализацию трендов рынка труда.</a:t>
            </a:r>
          </a:p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Обучить алгоритм регрессии 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Random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Forest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для прогнозирования зарплаты.</a:t>
            </a:r>
          </a:p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Реализовать механизм интерпретации результатов (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Feature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Importance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).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E6FC933-E14A-FD12-E7B0-87AB77FB0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90573D-6CD5-9CC4-6E0F-BFD99EA3B873}"/>
              </a:ext>
            </a:extLst>
          </p:cNvPr>
          <p:cNvSpPr/>
          <p:nvPr/>
        </p:nvSpPr>
        <p:spPr>
          <a:xfrm>
            <a:off x="9845646" y="2459458"/>
            <a:ext cx="8654110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7212A88F-8736-040C-2F64-6C956240DA53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3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20B5FD-503F-1203-486E-77317B663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619260"/>
            <a:ext cx="1945529" cy="137512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C0D4DEC-489B-3F72-53A0-0ECE9B786E6E}"/>
              </a:ext>
            </a:extLst>
          </p:cNvPr>
          <p:cNvSpPr/>
          <p:nvPr/>
        </p:nvSpPr>
        <p:spPr>
          <a:xfrm>
            <a:off x="493834" y="3873397"/>
            <a:ext cx="17300331" cy="641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Этап подготовки данных</a:t>
            </a:r>
            <a:r>
              <a:rPr lang="en-US" sz="2200" dirty="0">
                <a:latin typeface="Montserrat Medium" pitchFamily="2" charset="0"/>
                <a:ea typeface="Inter Regular" pitchFamily="34" charset="-122"/>
              </a:rPr>
              <a:t>: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осуществляется загрузка сырого массива вакансий и его первичная обработка. Проводится географическая фильтрация: исключаются регионы за пределами РФ, а также населенные пункты с объемом выборки менее 500 наблюдений для обеспечения статистической достоверности результатов.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Разведочный анализ и визуализация</a:t>
            </a:r>
            <a:r>
              <a:rPr lang="en-US" sz="2200" b="1" dirty="0">
                <a:latin typeface="Montserrat Medium" pitchFamily="2" charset="0"/>
                <a:ea typeface="Inter Regular" pitchFamily="34" charset="-122"/>
              </a:rPr>
              <a:t>: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применяются библиотеки Python (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pandas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,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seaborn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) для исследования структуры данных. Строятся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боксплоты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(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boxplot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) для выявления медианных значений и выбросов в разрезе уровня опыта, а также гистограммы для определения модальных зарплатных диапазонов рынка.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Обучение регрессионной модели</a:t>
            </a:r>
            <a:r>
              <a:rPr lang="en-US" sz="2200" dirty="0">
                <a:latin typeface="Montserrat Medium" pitchFamily="2" charset="0"/>
                <a:ea typeface="Inter Regular" pitchFamily="34" charset="-122"/>
              </a:rPr>
              <a:t>: 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используется алгоритм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Random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Forest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Regressor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. Категориальные признаки (город, формат занятости, уровень опыта) преобразуются в числовой формат методом One-Hot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Encoding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. Обучение производится на обучающей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подвыборке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, а итоговая точность прогноза верифицируется на тестовой выборке посредством метрик МАЕ (средняя абсолютная ошибка) и RMSE.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Интерпретация и оценка значимости факторов</a:t>
            </a:r>
            <a:r>
              <a:rPr lang="en-US" sz="2200" dirty="0">
                <a:latin typeface="Montserrat Medium" pitchFamily="2" charset="0"/>
                <a:ea typeface="Inter Regular" pitchFamily="34" charset="-122"/>
              </a:rPr>
              <a:t>: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для обеспечения прозрачности работы модели применяется метод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Feature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Importance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. Рассчитывается вклад каждого признака в формирование итогового прогноза, что позволяет количественно оценить влияние конкретных профессиональных компетенций и параметров вакансии на рыночную стоимость специалиста.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latin typeface="Montserrat Medium" pitchFamily="2" charset="0"/>
              <a:ea typeface="Inter Regular" pitchFamily="34" charset="-122"/>
            </a:endParaRP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latin typeface="Montserrat Medium" pitchFamily="2" charset="0"/>
              <a:ea typeface="Inter Regular" pitchFamily="34" charset="-122"/>
            </a:endParaRP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endParaRPr lang="en-US" sz="2200" dirty="0">
              <a:latin typeface="Montserrat Medium" pitchFamily="2" charset="0"/>
              <a:ea typeface="Inter Regular" pitchFamily="34" charset="-122"/>
            </a:endParaRPr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C1C3407A-B156-A844-465E-3BD663092D63}"/>
              </a:ext>
            </a:extLst>
          </p:cNvPr>
          <p:cNvSpPr/>
          <p:nvPr/>
        </p:nvSpPr>
        <p:spPr>
          <a:xfrm>
            <a:off x="1143000" y="862123"/>
            <a:ext cx="10383982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325BA7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Методика</a:t>
            </a:r>
          </a:p>
          <a:p>
            <a:pPr marL="0" indent="0" algn="l">
              <a:buNone/>
            </a:pPr>
            <a:r>
              <a:rPr lang="ru-RU" sz="7200" b="1" dirty="0">
                <a:solidFill>
                  <a:srgbClr val="325BA7"/>
                </a:solidFill>
                <a:latin typeface="Montserrat" pitchFamily="2" charset="0"/>
                <a:ea typeface="Inter Medium" pitchFamily="34" charset="-122"/>
              </a:rPr>
              <a:t>выполнения работы</a:t>
            </a:r>
            <a:endParaRPr lang="en-US" sz="7200" b="1" dirty="0">
              <a:solidFill>
                <a:srgbClr val="325BA7"/>
              </a:solidFill>
              <a:latin typeface="Montserrat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FCC50C-D4DE-1FA6-AAA9-76A93D8B4AB7}"/>
              </a:ext>
            </a:extLst>
          </p:cNvPr>
          <p:cNvSpPr/>
          <p:nvPr/>
        </p:nvSpPr>
        <p:spPr>
          <a:xfrm>
            <a:off x="-1" y="3188111"/>
            <a:ext cx="12671426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B555D6F2-EB02-07FE-5577-F484A5B3D8DC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4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167606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9932670" y="3268764"/>
            <a:ext cx="6686550" cy="277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r>
              <a:rPr lang="ru-RU" sz="3200" dirty="0">
                <a:latin typeface="Montserrat Medium" pitchFamily="2" charset="0"/>
              </a:rPr>
              <a:t>Персональный компьютер и ноутбук на </a:t>
            </a:r>
            <a:r>
              <a:rPr lang="en-US" sz="3200" dirty="0">
                <a:latin typeface="Montserrat Medium" pitchFamily="2" charset="0"/>
              </a:rPr>
              <a:t>Windows 11,</a:t>
            </a:r>
            <a:r>
              <a:rPr lang="ru-RU" sz="3200" dirty="0">
                <a:latin typeface="Montserrat Medium" pitchFamily="2" charset="0"/>
              </a:rPr>
              <a:t> </a:t>
            </a:r>
            <a:r>
              <a:rPr lang="en-US" sz="3200" dirty="0">
                <a:latin typeface="Montserrat Medium" pitchFamily="2" charset="0"/>
              </a:rPr>
              <a:t>PyCharm</a:t>
            </a:r>
          </a:p>
        </p:txBody>
      </p:sp>
      <p:sp>
        <p:nvSpPr>
          <p:cNvPr id="8" name="default_name">
            <a:extLst>
              <a:ext uri="{FF2B5EF4-FFF2-40B4-BE49-F238E27FC236}">
                <a16:creationId xmlns:a16="http://schemas.microsoft.com/office/drawing/2014/main" id="{F4F9021D-26B4-4C3E-AD42-ECA7B33EDC81}"/>
              </a:ext>
            </a:extLst>
          </p:cNvPr>
          <p:cNvSpPr/>
          <p:nvPr/>
        </p:nvSpPr>
        <p:spPr>
          <a:xfrm>
            <a:off x="9932670" y="1046190"/>
            <a:ext cx="6686550" cy="137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Оборудование </a:t>
            </a:r>
            <a:b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</a:b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и ПО</a:t>
            </a:r>
            <a:endParaRPr lang="en-US" sz="60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sp>
        <p:nvSpPr>
          <p:cNvPr id="11" name="default_name">
            <a:extLst>
              <a:ext uri="{FF2B5EF4-FFF2-40B4-BE49-F238E27FC236}">
                <a16:creationId xmlns:a16="http://schemas.microsoft.com/office/drawing/2014/main" id="{60D82716-C3C1-B1FB-DFC7-B89C6138BA54}"/>
              </a:ext>
            </a:extLst>
          </p:cNvPr>
          <p:cNvSpPr/>
          <p:nvPr/>
        </p:nvSpPr>
        <p:spPr>
          <a:xfrm>
            <a:off x="1143000" y="1046190"/>
            <a:ext cx="6686550" cy="71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Материалы</a:t>
            </a:r>
            <a:endParaRPr lang="en-US" sz="44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0E981F-6F82-B8EF-070C-C18708FC6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135EF2-7E09-74F8-0435-507B7AA9F347}"/>
              </a:ext>
            </a:extLst>
          </p:cNvPr>
          <p:cNvSpPr/>
          <p:nvPr/>
        </p:nvSpPr>
        <p:spPr>
          <a:xfrm>
            <a:off x="9845646" y="2584070"/>
            <a:ext cx="8442354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AFF9DA-9463-F30A-A67E-09484A143D20}"/>
              </a:ext>
            </a:extLst>
          </p:cNvPr>
          <p:cNvSpPr/>
          <p:nvPr/>
        </p:nvSpPr>
        <p:spPr>
          <a:xfrm rot="10800000">
            <a:off x="0" y="1870025"/>
            <a:ext cx="8654110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3CBDEF45-C097-B1FC-8CA0-97D85F467F24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5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E1C72-FF1D-59BF-A6D1-69DD0A39D2D9}"/>
              </a:ext>
            </a:extLst>
          </p:cNvPr>
          <p:cNvSpPr txBox="1"/>
          <p:nvPr/>
        </p:nvSpPr>
        <p:spPr>
          <a:xfrm>
            <a:off x="285750" y="2421318"/>
            <a:ext cx="8442354" cy="505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>
                <a:latin typeface="Montserrat Medium" pitchFamily="2" charset="0"/>
              </a:rPr>
              <a:t>Язык программирования </a:t>
            </a:r>
            <a:r>
              <a:rPr lang="en-US" sz="3200" dirty="0">
                <a:latin typeface="Montserrat Medium" pitchFamily="2" charset="0"/>
              </a:rPr>
              <a:t>Python 3.14.</a:t>
            </a:r>
          </a:p>
          <a:p>
            <a:pPr marL="457200" indent="-457200"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>
                <a:latin typeface="Montserrat Medium" pitchFamily="2" charset="0"/>
              </a:rPr>
              <a:t>Библиотеки</a:t>
            </a:r>
            <a:r>
              <a:rPr lang="en-US" sz="3200" dirty="0">
                <a:latin typeface="Montserrat Medium" pitchFamily="2" charset="0"/>
              </a:rPr>
              <a:t>: Pandas, NumPy, Matplotlib, Seaborn.</a:t>
            </a:r>
          </a:p>
          <a:p>
            <a:pPr marL="457200" indent="-457200"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>
                <a:latin typeface="Montserrat Medium" pitchFamily="2" charset="0"/>
              </a:rPr>
              <a:t>Датасет «</a:t>
            </a:r>
            <a:r>
              <a:rPr lang="en-US" sz="3200" dirty="0">
                <a:latin typeface="Montserrat Medium" pitchFamily="2" charset="0"/>
              </a:rPr>
              <a:t>hh_vacancies_2026_07</a:t>
            </a:r>
            <a:r>
              <a:rPr lang="ru-RU" sz="3200" dirty="0">
                <a:latin typeface="Montserrat Medium" pitchFamily="2" charset="0"/>
              </a:rPr>
              <a:t>»</a:t>
            </a:r>
            <a:r>
              <a:rPr lang="en-US" sz="3200" dirty="0">
                <a:latin typeface="Montserrat Medium" pitchFamily="2" charset="0"/>
              </a:rPr>
              <a:t> [2].</a:t>
            </a:r>
          </a:p>
          <a:p>
            <a:endParaRPr lang="en-US" sz="3200" dirty="0">
              <a:latin typeface="Montserrat Medium" pitchFamily="2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E9919-4C14-173A-1224-D0C90529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BFF2613-81A2-61F1-5F06-A6A8D5E52E63}"/>
              </a:ext>
            </a:extLst>
          </p:cNvPr>
          <p:cNvSpPr/>
          <p:nvPr/>
        </p:nvSpPr>
        <p:spPr>
          <a:xfrm>
            <a:off x="-921096" y="619260"/>
            <a:ext cx="8434005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7E88F92-212F-77EB-3020-DE5D53441FCB}"/>
              </a:ext>
            </a:extLst>
          </p:cNvPr>
          <p:cNvSpPr/>
          <p:nvPr/>
        </p:nvSpPr>
        <p:spPr>
          <a:xfrm>
            <a:off x="842325" y="2552413"/>
            <a:ext cx="16660584" cy="757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Функционирующая оценочная модель МОСС с веб-интерфейсом на базе библиотеки Streamlit для интерактивного прогнозирования рыночной заработной платы.</a:t>
            </a:r>
            <a:endParaRPr lang="en-US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Очищенный и структурированный датасет, пригодный для дальнейшего анализа и воспроизводимости исследования.</a:t>
            </a:r>
            <a:endParaRPr lang="en-US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Комплекс визуализаций (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боксплоты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, гистограммы распределения), демонстрирующий ключевые тренды российского рынка труда в 2026 году.</a:t>
            </a:r>
            <a:endParaRPr lang="en-US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Функция объяснения прогноза: система наглядно показывает, какие именно навыки и опыт сильнее всего влияют на итоговую зарплату.</a:t>
            </a:r>
            <a:b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</a:br>
            <a:endParaRPr lang="ru-RU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>
              <a:lnSpc>
                <a:spcPts val="4320"/>
              </a:lnSpc>
              <a:spcAft>
                <a:spcPts val="4500"/>
              </a:spcAft>
            </a:pPr>
            <a:endParaRPr lang="ru-RU" sz="32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  <a:cs typeface="Inter Regular" pitchFamily="34" charset="-120"/>
            </a:endParaRPr>
          </a:p>
        </p:txBody>
      </p:sp>
      <p:sp>
        <p:nvSpPr>
          <p:cNvPr id="11" name="default_name">
            <a:extLst>
              <a:ext uri="{FF2B5EF4-FFF2-40B4-BE49-F238E27FC236}">
                <a16:creationId xmlns:a16="http://schemas.microsoft.com/office/drawing/2014/main" id="{17CDB05C-3A36-6569-119F-547C4BFB039A}"/>
              </a:ext>
            </a:extLst>
          </p:cNvPr>
          <p:cNvSpPr/>
          <p:nvPr/>
        </p:nvSpPr>
        <p:spPr>
          <a:xfrm>
            <a:off x="1143000" y="720583"/>
            <a:ext cx="6048632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Что будет</a:t>
            </a:r>
            <a:r>
              <a:rPr lang="en-US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?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C3CBBFB-8C12-C4A3-ECDC-5552BE370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32274CE1-6C50-414E-EBAA-A656657D99CF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6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2182135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11FFDC6-489F-ED73-DBE3-CC0346A135FB}"/>
              </a:ext>
            </a:extLst>
          </p:cNvPr>
          <p:cNvSpPr/>
          <p:nvPr/>
        </p:nvSpPr>
        <p:spPr>
          <a:xfrm>
            <a:off x="930562" y="3866474"/>
            <a:ext cx="16573499" cy="576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en-US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[1] - </a:t>
            </a:r>
            <a:r>
              <a:rPr lang="ru-RU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Прогноз рынка труда в России до 2028 года // РОСКОНГРЕСС URL: https://roscongress.ru/materials/rynok-truda-rossii-do-2028-goda-zanyatost-defitsit-kadrov-i-programmy-pereobucheniya/?ysclid=mve9dyja3204713488&amp;utm_referrer=https%3A%2F%2Fyandex.ru%2F (дата обращения: 18.10.2026).</a:t>
            </a:r>
            <a:endParaRPr lang="en-US" sz="26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en-US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[2] - Russian Job Market Vacancies from hh.ru (2026) // </a:t>
            </a:r>
            <a:r>
              <a:rPr lang="en-US" sz="26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kaggle</a:t>
            </a:r>
            <a:r>
              <a:rPr lang="en-US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 URL: https://www.kaggle.com/datasets/anastasiavdovina/russian-job-market-vacancies-from-hh-ru-2026?select=hh_vacancies_2026_07.csv (</a:t>
            </a:r>
            <a:r>
              <a:rPr lang="ru-RU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дата обращения: 18.10.2026).</a:t>
            </a:r>
          </a:p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endParaRPr lang="ru-RU" sz="32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  <a:cs typeface="Inter Regular" pitchFamily="34" charset="-12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611B86-1864-A6D2-8BEA-5425E88FF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D58500-7556-013B-2FA3-57B2D8DF7BBA}"/>
              </a:ext>
            </a:extLst>
          </p:cNvPr>
          <p:cNvSpPr/>
          <p:nvPr/>
        </p:nvSpPr>
        <p:spPr>
          <a:xfrm>
            <a:off x="-2" y="3188111"/>
            <a:ext cx="14484351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E7368BFF-419B-DF09-6F52-1A78D673C90A}"/>
              </a:ext>
            </a:extLst>
          </p:cNvPr>
          <p:cNvSpPr/>
          <p:nvPr/>
        </p:nvSpPr>
        <p:spPr>
          <a:xfrm>
            <a:off x="1142999" y="862123"/>
            <a:ext cx="12656127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Список использованных источников</a:t>
            </a:r>
          </a:p>
        </p:txBody>
      </p:sp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0CA2C9F7-5A70-4F40-9E1F-813992580032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7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145189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12011</TotalTime>
  <Words>587</Words>
  <Application>Microsoft Office PowerPoint</Application>
  <PresentationFormat>Произвольный</PresentationFormat>
  <Paragraphs>52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Montserrat</vt:lpstr>
      <vt:lpstr>Montserrat Medium</vt:lpstr>
      <vt:lpstr>Montserrat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Артемий Семин</cp:lastModifiedBy>
  <cp:revision>14</cp:revision>
  <dcterms:created xsi:type="dcterms:W3CDTF">2025-01-14T09:23:53Z</dcterms:created>
  <dcterms:modified xsi:type="dcterms:W3CDTF">2026-10-18T20:55:56Z</dcterms:modified>
</cp:coreProperties>
</file>